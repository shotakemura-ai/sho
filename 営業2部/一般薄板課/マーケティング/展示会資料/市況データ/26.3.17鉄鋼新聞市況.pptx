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9144000" cy="1097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鉄鋼市況レポート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令和8年3月17日（火）｜鉄鋼新聞より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09728" cy="109728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480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三幸商事株式会社　営業部　竹村 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s-takemura@steelsanco.co.jp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2026.3.17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今週の注目 3点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73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三幸商事株式会社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2026.3.17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2743200" cy="4069080"/>
          </a:xfrm>
          <a:prstGeom prst="rect">
            <a:avLst/>
          </a:prstGeom>
          <a:solidFill>
            <a:srgbClr val="FFF0F0"/>
          </a:solidFill>
          <a:ln w="12700">
            <a:solidFill>
              <a:srgbClr val="C0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22960"/>
            <a:ext cx="2743200" cy="6400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987552"/>
            <a:ext cx="411480" cy="41148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987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481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仙台 異形棒鋼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+5,000円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" y="2761488"/>
            <a:ext cx="237744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29768" y="2880360"/>
            <a:ext cx="2523744" cy="1783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冬季明け以降の需要回復と在庫調整が重なり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5,000円の急激な値上がり。仕入れ早期化を検討。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822960"/>
            <a:ext cx="2743200" cy="4069080"/>
          </a:xfrm>
          <a:prstGeom prst="rect">
            <a:avLst/>
          </a:prstGeom>
          <a:solidFill>
            <a:srgbClr val="FFF8F0"/>
          </a:solidFill>
          <a:ln w="12700">
            <a:solidFill>
              <a:srgbClr val="E8620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822960"/>
            <a:ext cx="2743200" cy="6400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987552"/>
            <a:ext cx="411480" cy="411480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987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1481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東京 厚板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8328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620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底打ち・反転機運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3474720" y="2761488"/>
            <a:ext cx="2377440" cy="0"/>
          </a:xfrm>
          <a:prstGeom prst="line">
            <a:avLst/>
          </a:prstGeom>
          <a:noFill/>
          <a:ln w="12700">
            <a:solidFill>
              <a:srgbClr val="E8620A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3401568" y="2880360"/>
            <a:ext cx="2523744" cy="1783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弱含みが続いていた厚板に底打ち感。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先買い提案を主要得意先へ今週中に打診。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822960"/>
            <a:ext cx="2743200" cy="4069080"/>
          </a:xfrm>
          <a:prstGeom prst="rect">
            <a:avLst/>
          </a:prstGeom>
          <a:solidFill>
            <a:srgbClr val="FFFBE0"/>
          </a:solidFill>
          <a:ln w="12700">
            <a:solidFill>
              <a:srgbClr val="8B691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822960"/>
            <a:ext cx="2743200" cy="64008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987552"/>
            <a:ext cx="411480" cy="41148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987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1481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鉄スクラップ（東京）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508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691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先高観強まる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6446520" y="2761488"/>
            <a:ext cx="2377440" cy="0"/>
          </a:xfrm>
          <a:prstGeom prst="line">
            <a:avLst/>
          </a:prstGeom>
          <a:noFill/>
          <a:ln w="12700">
            <a:solidFill>
              <a:srgbClr val="8B6914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6373368" y="2880360"/>
            <a:ext cx="2523744" cy="1783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輸出向けの引き合い増加で強含み推移。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原料コスト上昇を織り込んだ見積もり準備を。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地域別 鉄鋼市況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73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三幸商事株式会社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2026.3.17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77240"/>
          <a:ext cx="8503920" cy="4206240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  <a:gridCol w="3200400"/>
                <a:gridCol w="12801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地域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主な品目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動向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方向感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東京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厚板・普通鋼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底打ち・反転機運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↑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大阪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異形棒鋼・ナマシ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横ばい・安値払い / 底打ち感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64748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→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名古屋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普通線鋼・アルミ合金棒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売り腰しっかり / 高唱えへ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E8620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↑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広島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カラーコイル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横ばい・活気薄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64748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→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福岡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亜鉛めっき鋼類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現行値圏・需要低水準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64748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→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仙台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異形棒鋼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5,000円値上がり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↑↑</a:t>
                      </a:r>
                      <a:endParaRPr lang="en-US" sz="1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主要品目 市場価格（3月16日）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73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三幸商事株式会社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2026.3.17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一般鋼材（単位：円/トン）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24128"/>
          <a:ext cx="4846320" cy="356616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005840"/>
                <a:gridCol w="10972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品目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東京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大阪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名古屋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異形棒鋼 D13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138,000〜141,000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134,000〜137,000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140,000〜142,000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厚板 19t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8620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138,000〜141,000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135,000〜137,000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141,000〜143,000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H形鋼 100角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116,000〜120,000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106,000〜110,000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111,000〜121,000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ガス管 白1/2"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252,000〜259,000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245,000〜248,000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245,000〜261,000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角形鋼管 50×50×3.2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228,000〜231,000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204,000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229,000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349240" y="7498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特殊鋼・非鉄金属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349240" y="1024128"/>
            <a:ext cx="3474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13248" y="106070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電気銅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13248" y="128016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1,115,000円/t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349240" y="1618488"/>
            <a:ext cx="3474720" cy="530352"/>
          </a:xfrm>
          <a:prstGeom prst="rect">
            <a:avLst/>
          </a:prstGeom>
          <a:solidFill>
            <a:srgbClr val="F5F7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13248" y="165506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電気亜鉛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13248" y="187452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385,000円/t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349240" y="2212848"/>
            <a:ext cx="3474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13248" y="224942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SUS304棒鋼 Φ50以下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13248" y="246888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670,000〜700,000円/t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349240" y="2807208"/>
            <a:ext cx="3474720" cy="530352"/>
          </a:xfrm>
          <a:prstGeom prst="rect">
            <a:avLst/>
          </a:prstGeom>
          <a:solidFill>
            <a:srgbClr val="F5F7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13248" y="284378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金（建値）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13248" y="306324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21,814円/g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349240" y="3401568"/>
            <a:ext cx="3474720" cy="530352"/>
          </a:xfrm>
          <a:prstGeom prst="rect">
            <a:avLst/>
          </a:prstGeom>
          <a:solidFill>
            <a:srgbClr val="FF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13248" y="343814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LMEアルミ（$）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13248" y="365760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$2,669/t（下落）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349240" y="3995928"/>
            <a:ext cx="3474720" cy="530352"/>
          </a:xfrm>
          <a:prstGeom prst="rect">
            <a:avLst/>
          </a:prstGeom>
          <a:solidFill>
            <a:srgbClr val="FF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13248" y="403250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CODEXパラジウム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13248" y="425196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$976.97（3日続落）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鉄スクラップ市況（3月16日）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73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三幸商事株式会社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2026.3.17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749808"/>
            <a:ext cx="8503920" cy="347472"/>
          </a:xfrm>
          <a:prstGeom prst="rect">
            <a:avLst/>
          </a:prstGeom>
          <a:solidFill>
            <a:srgbClr val="FFF0F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7772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東京：強含み・輸出に先高観　→　今後の原料コスト上昇に要注意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70432"/>
          <a:ext cx="8503920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品目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東京 高値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東京 安値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大阪 高値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大阪 安値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名古屋 高値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名古屋 安値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H5（重量）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468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305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395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345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325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246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H1（重量）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370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360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320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315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H3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370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345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306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273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SUS304 ダライ粉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1,410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1,390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1,150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1,100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760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20040" y="4251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単位：百円/トン　問屋持ち込み価格・消費税抜き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solidFill>
            <a:srgbClr val="FFF8E0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460857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45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スクラップ先高観 → 二次製品価格への転嫁タイミングを注視。見積もり有効期限の短縮も検討。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国際相場・非鉄金属動向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73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三幸商事株式会社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2026.3.17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749808"/>
            <a:ext cx="416052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LME相場（3月13日）　単位：ドル/トン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115568"/>
            <a:ext cx="4160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7043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銅（現物）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389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$12,767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43200" y="14447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前日比 下落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847088"/>
            <a:ext cx="4160520" cy="676656"/>
          </a:xfrm>
          <a:prstGeom prst="rect">
            <a:avLst/>
          </a:prstGeom>
          <a:solidFill>
            <a:srgbClr val="F5F7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0195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アルミ（現物）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121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$2,669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43200" y="21762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ドル高で下落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578608"/>
            <a:ext cx="4160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334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ニッケル（現物）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2852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$17,325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20040" y="3310128"/>
            <a:ext cx="4160520" cy="676656"/>
          </a:xfrm>
          <a:prstGeom prst="rect">
            <a:avLst/>
          </a:prstGeom>
          <a:solidFill>
            <a:srgbClr val="F5F7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3649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鉛（現物）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584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$1,878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743200" y="36393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前日比 下落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749808"/>
            <a:ext cx="4160520" cy="320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4980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COMEX相場（3月13日）　単位：ドル/オンス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115568"/>
            <a:ext cx="4160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17043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金（ゴールド）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1389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$5,007.5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663440" y="1847088"/>
            <a:ext cx="4160520" cy="676656"/>
          </a:xfrm>
          <a:prstGeom prst="rect">
            <a:avLst/>
          </a:prstGeom>
          <a:solidFill>
            <a:srgbClr val="F5F7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90195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銀（シルバー）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2121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$34.61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663440" y="2578608"/>
            <a:ext cx="4160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6334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白金（プラチナ）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2852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$986.9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663440" y="3310128"/>
            <a:ext cx="4160520" cy="676656"/>
          </a:xfrm>
          <a:prstGeom prst="rect">
            <a:avLst/>
          </a:prstGeom>
          <a:solidFill>
            <a:srgbClr val="FFF0F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3649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パラジウム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0" y="3584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$976.97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040880" y="36393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3日続落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FFF8E0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6542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45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ドル高基調継続 → 輸入原材料コストに上昇圧力。為替動向と連動した価格モニタリングが必要。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今週の営業アクションプラン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73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三幸商事株式会社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2026.3.17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749808"/>
            <a:ext cx="8503920" cy="2743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7589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高優先度　— 今週中に対応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042416"/>
            <a:ext cx="8503920" cy="384048"/>
          </a:xfrm>
          <a:prstGeom prst="rect">
            <a:avLst/>
          </a:prstGeom>
          <a:solidFill>
            <a:srgbClr val="FFCCCC"/>
          </a:solidFill>
          <a:ln w="12700">
            <a:solidFill>
              <a:srgbClr val="FF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515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東京 厚板：底打ち感あり → 先買い提案を主要得意先へ今週中に打診（電話・訪問）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463040"/>
            <a:ext cx="8503920" cy="384048"/>
          </a:xfrm>
          <a:prstGeom prst="rect">
            <a:avLst/>
          </a:prstGeom>
          <a:solidFill>
            <a:srgbClr val="FFCCCC"/>
          </a:solidFill>
          <a:ln w="12700">
            <a:solidFill>
              <a:srgbClr val="FF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47218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鉄スクラップ 先高観：原料コスト上昇を織り込んだ見積もりを準備し、有効期限を短縮して提示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1920240"/>
            <a:ext cx="8503920" cy="2743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2938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中優先度　— 来週初めまでに対応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212848"/>
            <a:ext cx="8503920" cy="356616"/>
          </a:xfrm>
          <a:prstGeom prst="rect">
            <a:avLst/>
          </a:prstGeom>
          <a:solidFill>
            <a:srgbClr val="FFF3CC"/>
          </a:solidFill>
          <a:ln w="12700">
            <a:solidFill>
              <a:srgbClr val="FFDD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221992"/>
            <a:ext cx="8321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仙台 異形棒鋼 5,000円値上がり：東北エリア顧客へ価格改定通知・今後の動向説明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606040"/>
            <a:ext cx="8503920" cy="356616"/>
          </a:xfrm>
          <a:prstGeom prst="rect">
            <a:avLst/>
          </a:prstGeom>
          <a:solidFill>
            <a:srgbClr val="FFF3CC"/>
          </a:solidFill>
          <a:ln w="12700">
            <a:solidFill>
              <a:srgbClr val="FFDD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15184"/>
            <a:ext cx="8321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アルミ合金棒（名古屋）高唱えへ：早期手配の案内メールを関係顧客へ送付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999232"/>
            <a:ext cx="8503920" cy="356616"/>
          </a:xfrm>
          <a:prstGeom prst="rect">
            <a:avLst/>
          </a:prstGeom>
          <a:solidFill>
            <a:srgbClr val="FFF3CC"/>
          </a:solidFill>
          <a:ln w="12700">
            <a:solidFill>
              <a:srgbClr val="FFDD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008376"/>
            <a:ext cx="8321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大阪 ナマシ 底打ち感：春需要取り込みに向けた提案営業の準備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401568"/>
            <a:ext cx="8503920" cy="27432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4107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低優先度　— 継続監視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694176"/>
            <a:ext cx="8503920" cy="347472"/>
          </a:xfrm>
          <a:prstGeom prst="rect">
            <a:avLst/>
          </a:prstGeom>
          <a:solidFill>
            <a:srgbClr val="E2EFDA"/>
          </a:solidFill>
          <a:ln w="12700">
            <a:solidFill>
              <a:srgbClr val="AADD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70332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東京 SUS304棒鋼：様子見・横ばい → 次週の市況確認後に対応方針決定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078224"/>
            <a:ext cx="8503920" cy="347472"/>
          </a:xfrm>
          <a:prstGeom prst="rect">
            <a:avLst/>
          </a:prstGeom>
          <a:solidFill>
            <a:srgbClr val="E2EFDA"/>
          </a:solidFill>
          <a:ln w="12700">
            <a:solidFill>
              <a:srgbClr val="AADD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0873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LMEアルミ：ドル高で下落 → 輸入コスト動向を継続監視、月次レポートに反映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4800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担当：竹村 翔　TEL (06)6541-9331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鉄鋼市況レポート 令和8年3月17日</dc:title>
  <dc:subject>PptxGenJS Presentation</dc:subject>
  <dc:creator>竹村 翔</dc:creator>
  <cp:lastModifiedBy>竹村 翔</cp:lastModifiedBy>
  <cp:revision>1</cp:revision>
  <dcterms:created xsi:type="dcterms:W3CDTF">2026-03-18T03:54:33Z</dcterms:created>
  <dcterms:modified xsi:type="dcterms:W3CDTF">2026-03-18T03:54:33Z</dcterms:modified>
</cp:coreProperties>
</file>