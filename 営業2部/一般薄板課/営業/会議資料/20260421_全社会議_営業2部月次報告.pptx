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109728" cy="68580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8E4"/>
                </a:solidFill>
              </a:rPr>
              <a:t>三幸商事株式会社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営業2部 月次報告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0D8E4"/>
                </a:solidFill>
              </a:rPr>
              <a:t>2026年4月21日（月）全社会議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営業2部 取締役 部長　竹村 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守り × 攻め
の両輪経営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8E4"/>
                </a:solidFill>
              </a:rPr>
              <a:t>安定収益 × 成長利益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537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4月度 業績速報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</a:rPr>
              <a:t>月中速報（4月中旬時点）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三幸商事株式会社 営業2部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64008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A6"/>
                </a:solidFill>
              </a:rPr>
              <a:t>売  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3月超ペース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6EA6"/>
                </a:solidFill>
              </a:rPr>
              <a:t>月末着地: 1億円超見込み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508760"/>
            <a:ext cx="6858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64008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A6"/>
                </a:solidFill>
              </a:rPr>
              <a:t>出荷量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745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同上（3月超ペース）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6EA6"/>
                </a:solidFill>
              </a:rPr>
              <a:t>前年比トレンド維持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1508760"/>
            <a:ext cx="6858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1088136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月次推移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10881360" cy="36576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77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9776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売上（百万円）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77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出荷量（t）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9776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判定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97680"/>
            <a:ext cx="108813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5254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5254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525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910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3525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81728"/>
            <a:ext cx="10881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365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7365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7365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925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736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65776"/>
            <a:ext cx="108813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120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1206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120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925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1206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9824"/>
            <a:ext cx="10881360" cy="38404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5046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4月（速報）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50468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前月超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04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6A1F"/>
                </a:solidFill>
              </a:rPr>
              <a:t>速報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EA6"/>
                </a:solidFill>
              </a:rPr>
              <a:t>※ 安定推移。現状維持は後退と同じと捉え、2つの成長施策を走らせています。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6537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【成長施策①】缶バッジ事業の収益化加速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</a:rPr>
              <a:t>自社製品 = 価格決定権 = 安定利益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三幸商事株式会社 営業2部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30000" cy="59436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鉄鋼（市況依存）× 缶バッジ（自社定価）＝ 収益構造の強化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3657600" cy="4572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販売体制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51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新開発マシン（10万〜1,000万円台）の販売本格化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035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EC開設・在庫5台体制で即納対応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4198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予備機5台によるセンドバック方式でアフター体制を確立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803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6A1F"/>
                </a:solidFill>
              </a:rPr>
              <a:t>→ 遠方顧客にも対応、販売エリア制約を解消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5740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057400"/>
            <a:ext cx="365760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121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製造・品質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651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仕切り導入で不良率を大幅低減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035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（1万個ロットで効果実証済み）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4198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全ラインへ横展開予定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803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板厚 0.20→0.19 のトライ計画中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1879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6A1F"/>
                </a:solidFill>
              </a:rPr>
              <a:t>→ 材料費削減 × 品質向上の両立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572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金型改定費（約40万円）は投資回収済み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05740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05740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2121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収益インパクト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651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薄板：安定収益（市況連動）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035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缶バッジ：成長利益（自社定価）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4198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803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この二本柱が会社の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1879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収益構造を強くする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0" y="6537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【成長施策②】TDB活用による薄板の新規開拓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</a:rPr>
              <a:t>依存リスク分散 × 利益率改善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三幸商事株式会社 営業2部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現状の課題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5029200" cy="685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TOP10顧客で売上の約50%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134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特定先への依存リスク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5029200" cy="685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既存深耕だけでは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278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売上の天井が見えてきた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6EA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35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TDB活用アプローチ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965960"/>
            <a:ext cx="457200" cy="6858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30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0208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TDB導入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業種・規模・地域・信用力でスクリーニング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880360"/>
            <a:ext cx="457200" cy="6858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449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9352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DMアプローチ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ターゲットリストへ一斉送付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794760"/>
            <a:ext cx="457200" cy="6858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59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8496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電話フォロー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142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反応先を優先してアポ獲得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709160"/>
            <a:ext cx="457200" cy="6858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8737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7640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訪問・商談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056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ニーズ確認 → 見積 → 受注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007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期待効果：売上基盤の分散と底上げ ｜ 新規先は単価交渉余地大 → 利益率改善 ｜ 営業2部の攻めの姿勢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コスト管理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</a:rPr>
              <a:t>売上拡大だけでなく、コスト構造の改善にも手を打つ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三幸商事株式会社 営業2部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749039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3619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5E"/>
                </a:solidFill>
              </a:rPr>
              <a:t>物流切替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69748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西濃運輸 → 新潟運輸 直配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657600"/>
            <a:ext cx="3520439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効果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年間 約44万円削減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399" y="146304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399" y="1463040"/>
            <a:ext cx="3749039" cy="50292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3619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検証中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210312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5E"/>
                </a:solidFill>
              </a:rPr>
              <a:t>パレット往復回収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69748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回収ルートの最適化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3127" y="3657600"/>
            <a:ext cx="3520439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703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6EA6"/>
                </a:solidFill>
              </a:rPr>
              <a:t>効果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9319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6EA6"/>
                </a:solidFill>
              </a:rPr>
              <a:t>運賃ゼロ運用を目指す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8" y="146304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38" y="1463040"/>
            <a:ext cx="3749039" cy="5029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6" y="153619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策定中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6" y="210312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5E"/>
                </a:solidFill>
              </a:rPr>
              <a:t>外材採用検討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6" y="269748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内外価格差 約70円/kg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0766" y="3657600"/>
            <a:ext cx="3520439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8" y="3703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F"/>
                </a:solidFill>
              </a:rPr>
              <a:t>効果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39319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A1F"/>
                </a:solidFill>
              </a:rPr>
              <a:t>採用基準を策定中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A375E"/>
                </a:solidFill>
              </a:rPr>
              <a:t>売上を伸ばすだけでなく、コスト構造の改善も同時進行で進めています。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0" y="6537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D8E4"/>
                </a:solidFill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営業2部は「守り（安定）× 攻め（成長）」の両輪で動いています。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1612880" cy="1005840"/>
          </a:xfrm>
          <a:prstGeom prst="rect">
            <a:avLst/>
          </a:prstGeom>
          <a:solidFill>
            <a:srgbClr val="24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6459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売  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36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現状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83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4月は3月超ペース 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27432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36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次の一手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月1億円の安定維持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11612880" cy="1005840"/>
          </a:xfrm>
          <a:prstGeom prst="rect">
            <a:avLst/>
          </a:prstGeom>
          <a:solidFill>
            <a:srgbClr val="24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06040"/>
            <a:ext cx="1645920" cy="100584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缶バッジ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79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現状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926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販売・品質・アフター体制が整った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743200"/>
            <a:ext cx="27432" cy="7315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79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次の一手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販売件数を積み上げ、収益化を加速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40"/>
            <a:ext cx="11612880" cy="1005840"/>
          </a:xfrm>
          <a:prstGeom prst="rect">
            <a:avLst/>
          </a:prstGeom>
          <a:solidFill>
            <a:srgbClr val="24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49040"/>
            <a:ext cx="1645920" cy="10058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23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新規開拓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22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現状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069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TDBでターゲット選定中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86200"/>
            <a:ext cx="27432" cy="73152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22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次の一手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リスト完成 → アプローチ開始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92040"/>
            <a:ext cx="11612880" cy="1005840"/>
          </a:xfrm>
          <a:prstGeom prst="rect">
            <a:avLst/>
          </a:prstGeom>
          <a:solidFill>
            <a:srgbClr val="24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1645920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166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コスト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65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現状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212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物流削減を実行済み（年44万円）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029200"/>
            <a:ext cx="27432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65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8E4"/>
                </a:solidFill>
              </a:rPr>
              <a:t>次の一手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12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外材採用基準の策定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446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D8E4"/>
                </a:solidFill>
              </a:rPr>
              <a:t>営業2部 取締役 部長　竹村 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0D8E4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